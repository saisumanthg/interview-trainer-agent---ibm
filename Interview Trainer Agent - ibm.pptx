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5140089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r>
                        <a:rPr lang="en-US" sz="1800" dirty="0"/>
                        <a:t>SAI SUMANTH G</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r>
                        <a:rPr lang="en-US" dirty="0"/>
                        <a:t>   sumanthg.sai@gmail.com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     9025208253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dirty="0"/>
              <a:t>Education Technology (EdTech) / Career Development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dirty="0"/>
              <a:t>Interview Trainer Agent – AI-Powered Mock Interview Preparation Platform</a:t>
            </a:r>
            <a:endParaRPr lang="en-IN" sz="2400" b="1" dirty="0"/>
          </a:p>
        </p:txBody>
      </p:sp>
      <p:pic>
        <p:nvPicPr>
          <p:cNvPr id="9" name="Picture 8">
            <a:extLst>
              <a:ext uri="{FF2B5EF4-FFF2-40B4-BE49-F238E27FC236}">
                <a16:creationId xmlns:a16="http://schemas.microsoft.com/office/drawing/2014/main" id="{C93E8DA2-1161-835C-D867-CA56F19F9805}"/>
              </a:ext>
            </a:extLst>
          </p:cNvPr>
          <p:cNvPicPr>
            <a:picLocks noChangeAspect="1"/>
          </p:cNvPicPr>
          <p:nvPr/>
        </p:nvPicPr>
        <p:blipFill>
          <a:blip r:embed="rId3"/>
          <a:stretch>
            <a:fillRect/>
          </a:stretch>
        </p:blipFill>
        <p:spPr>
          <a:xfrm>
            <a:off x="4147558" y="3624267"/>
            <a:ext cx="938152" cy="10003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616648"/>
          </a:xfrm>
          <a:prstGeom prst="rect">
            <a:avLst/>
          </a:prstGeom>
          <a:noFill/>
        </p:spPr>
        <p:txBody>
          <a:bodyPr wrap="square" rtlCol="0">
            <a:spAutoFit/>
          </a:bodyPr>
          <a:lstStyle/>
          <a:p>
            <a:pPr fontAlgn="base"/>
            <a:r>
              <a:rPr lang="en-IN" b="1" dirty="0"/>
              <a:t>Problem Statement  – Interview Trainer Agent</a:t>
            </a:r>
          </a:p>
          <a:p>
            <a:pPr fontAlgn="base"/>
            <a:endParaRPr lang="en-US" b="1" dirty="0"/>
          </a:p>
          <a:p>
            <a:r>
              <a:rPr lang="en-US" b="1" dirty="0"/>
              <a:t>The Challenge</a:t>
            </a:r>
          </a:p>
          <a:p>
            <a:r>
              <a:rPr lang="en-US" dirty="0"/>
              <a:t>Many students and job seekers face difficulties during interviews because they lack proper practice, personalized guidance, and real-time feedback on their performance. Traditional preparation methods often provide generic questions that do not align with a candidate's resume, skills, or target job role. As a result, candidates struggle to identify their weaknesses, improve their answers, and build confidence before attending actual interviews. There is a need for an intelligent system that can simulate real interview experiences and provide personalized evaluation and improvement suggestions.</a:t>
            </a:r>
          </a:p>
          <a:p>
            <a:pPr fontAlgn="base"/>
            <a:endParaRPr lang="en-US" b="1" dirty="0"/>
          </a:p>
          <a:p>
            <a:pPr fontAlgn="base"/>
            <a:endParaRPr lang="en-US" b="1" dirty="0"/>
          </a:p>
          <a:p>
            <a:r>
              <a:rPr lang="en-US" b="1" dirty="0"/>
              <a:t>The Objective</a:t>
            </a:r>
          </a:p>
          <a:p>
            <a:r>
              <a:rPr lang="en-US" dirty="0"/>
              <a:t>Build an </a:t>
            </a:r>
            <a:r>
              <a:rPr lang="en-US" b="1" dirty="0"/>
              <a:t>AI-Powered Interview Trainer Agent</a:t>
            </a:r>
            <a:r>
              <a:rPr lang="en-US" dirty="0"/>
              <a:t> that helps candidates prepare for interviews through personalized and interactive mock interview sessions.</a:t>
            </a:r>
          </a:p>
          <a:p>
            <a:r>
              <a:rPr lang="en-US" dirty="0"/>
              <a:t>The solution should:</a:t>
            </a:r>
          </a:p>
          <a:p>
            <a:pPr marL="285750" indent="-285750">
              <a:buFont typeface="Wingdings" panose="05000000000000000000" pitchFamily="2" charset="2"/>
              <a:buChar char="§"/>
            </a:pPr>
            <a:r>
              <a:rPr lang="en-US" dirty="0"/>
              <a:t> Analyze uploaded resumes and identify relevant skills.</a:t>
            </a:r>
          </a:p>
          <a:p>
            <a:pPr marL="285750" indent="-285750">
              <a:buFont typeface="Wingdings" panose="05000000000000000000" pitchFamily="2" charset="2"/>
              <a:buChar char="§"/>
            </a:pPr>
            <a:r>
              <a:rPr lang="en-US" dirty="0"/>
              <a:t> Generate role-specific interview questions using IBM Granite Models.</a:t>
            </a:r>
          </a:p>
          <a:p>
            <a:pPr marL="285750" indent="-285750">
              <a:buFont typeface="Wingdings" panose="05000000000000000000" pitchFamily="2" charset="2"/>
              <a:buChar char="§"/>
            </a:pPr>
            <a:r>
              <a:rPr lang="en-US" dirty="0"/>
              <a:t> Conduct AI-powered mock interviews.</a:t>
            </a:r>
          </a:p>
          <a:p>
            <a:pPr marL="285750" indent="-285750">
              <a:buFont typeface="Wingdings" panose="05000000000000000000" pitchFamily="2" charset="2"/>
              <a:buChar char="§"/>
            </a:pPr>
            <a:r>
              <a:rPr lang="en-US" dirty="0"/>
              <a:t> Evaluate candidate answers based on relevance, technical accuracy, clarity, and completeness.</a:t>
            </a:r>
          </a:p>
          <a:p>
            <a:pPr marL="285750" indent="-285750">
              <a:buFont typeface="Wingdings" panose="05000000000000000000" pitchFamily="2" charset="2"/>
              <a:buChar char="§"/>
            </a:pPr>
            <a:r>
              <a:rPr lang="en-US" dirty="0"/>
              <a:t> Provide scores, feedback, and improvement suggestions.</a:t>
            </a:r>
          </a:p>
          <a:p>
            <a:pPr marL="285750" indent="-285750">
              <a:buFont typeface="Wingdings" panose="05000000000000000000" pitchFamily="2" charset="2"/>
              <a:buChar char="§"/>
            </a:pPr>
            <a:r>
              <a:rPr lang="en-US" dirty="0"/>
              <a:t> Help users build confidence and improve interview performance.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883270" y="1391785"/>
            <a:ext cx="10607040" cy="5370701"/>
          </a:xfrm>
          <a:prstGeom prst="rect">
            <a:avLst/>
          </a:prstGeom>
          <a:noFill/>
        </p:spPr>
        <p:txBody>
          <a:bodyPr wrap="square" rtlCol="0">
            <a:spAutoFit/>
          </a:bodyPr>
          <a:lstStyle/>
          <a:p>
            <a:pPr fontAlgn="base"/>
            <a:endParaRPr lang="en-US" b="1" dirty="0"/>
          </a:p>
          <a:p>
            <a:r>
              <a:rPr lang="en-IN" b="1" dirty="0"/>
              <a:t>I used  </a:t>
            </a:r>
            <a:r>
              <a:rPr lang="en-IN" dirty="0" err="1"/>
              <a:t>LangFlow</a:t>
            </a:r>
            <a:r>
              <a:rPr lang="en-IN" dirty="0"/>
              <a:t> + IBM watsonx.ai + IBM Granite Models</a:t>
            </a:r>
          </a:p>
          <a:p>
            <a:endParaRPr lang="en-IN" dirty="0"/>
          </a:p>
          <a:p>
            <a:r>
              <a:rPr lang="en-IN" b="1" dirty="0" err="1"/>
              <a:t>LangFlow</a:t>
            </a:r>
            <a:endParaRPr lang="en-IN" b="1" dirty="0"/>
          </a:p>
          <a:p>
            <a:pPr marL="285750" indent="-285750">
              <a:buFont typeface="Arial" panose="020B0604020202020204" pitchFamily="34" charset="0"/>
              <a:buChar char="•"/>
            </a:pPr>
            <a:r>
              <a:rPr lang="en-IN" dirty="0"/>
              <a:t>Visual platform for designing and managing AI workflows. </a:t>
            </a:r>
          </a:p>
          <a:p>
            <a:pPr marL="285750" indent="-285750">
              <a:buFont typeface="Arial" panose="020B0604020202020204" pitchFamily="34" charset="0"/>
              <a:buChar char="•"/>
            </a:pPr>
            <a:r>
              <a:rPr lang="en-IN" dirty="0"/>
              <a:t>Connects multiple AI components and agents seamlessly. </a:t>
            </a:r>
          </a:p>
          <a:p>
            <a:pPr marL="285750" indent="-285750">
              <a:buFont typeface="Arial" panose="020B0604020202020204" pitchFamily="34" charset="0"/>
              <a:buChar char="•"/>
            </a:pPr>
            <a:r>
              <a:rPr lang="en-IN" dirty="0"/>
              <a:t>Enables rapid development of Agentic AI applications. </a:t>
            </a:r>
          </a:p>
          <a:p>
            <a:pPr>
              <a:lnSpc>
                <a:spcPct val="150000"/>
              </a:lnSpc>
            </a:pPr>
            <a:r>
              <a:rPr lang="en-IN" b="1" dirty="0"/>
              <a:t>IBM watsonx.ai</a:t>
            </a:r>
          </a:p>
          <a:p>
            <a:pPr marL="285750" indent="-285750">
              <a:buFont typeface="Arial" panose="020B0604020202020204" pitchFamily="34" charset="0"/>
              <a:buChar char="•"/>
            </a:pPr>
            <a:r>
              <a:rPr lang="en-IN" dirty="0"/>
              <a:t>Provides access to IBM Foundation Models. </a:t>
            </a:r>
          </a:p>
          <a:p>
            <a:pPr marL="285750" indent="-285750">
              <a:buFont typeface="Arial" panose="020B0604020202020204" pitchFamily="34" charset="0"/>
              <a:buChar char="•"/>
            </a:pPr>
            <a:r>
              <a:rPr lang="en-IN" dirty="0"/>
              <a:t>Supports prompt engineering and model deployment. </a:t>
            </a:r>
          </a:p>
          <a:p>
            <a:pPr marL="285750" indent="-285750">
              <a:buFont typeface="Arial" panose="020B0604020202020204" pitchFamily="34" charset="0"/>
              <a:buChar char="•"/>
            </a:pPr>
            <a:r>
              <a:rPr lang="en-IN" dirty="0"/>
              <a:t>Ensures scalability, security, and AI governance. </a:t>
            </a:r>
          </a:p>
          <a:p>
            <a:pPr>
              <a:lnSpc>
                <a:spcPct val="150000"/>
              </a:lnSpc>
            </a:pPr>
            <a:r>
              <a:rPr lang="en-IN" b="1" dirty="0"/>
              <a:t>IBM Granite Models</a:t>
            </a:r>
          </a:p>
          <a:p>
            <a:pPr marL="285750" indent="-285750">
              <a:buFont typeface="Arial" panose="020B0604020202020204" pitchFamily="34" charset="0"/>
              <a:buChar char="•"/>
            </a:pPr>
            <a:r>
              <a:rPr lang="en-IN" dirty="0"/>
              <a:t>Generates interview questions based on resumes and job roles. </a:t>
            </a:r>
          </a:p>
          <a:p>
            <a:pPr marL="285750" indent="-285750">
              <a:buFont typeface="Arial" panose="020B0604020202020204" pitchFamily="34" charset="0"/>
              <a:buChar char="•"/>
            </a:pPr>
            <a:r>
              <a:rPr lang="en-IN" dirty="0"/>
              <a:t>Evaluates candidate answers intelligently. </a:t>
            </a:r>
          </a:p>
          <a:p>
            <a:pPr marL="285750" indent="-285750">
              <a:buFont typeface="Arial" panose="020B0604020202020204" pitchFamily="34" charset="0"/>
              <a:buChar char="•"/>
            </a:pPr>
            <a:r>
              <a:rPr lang="en-IN" dirty="0"/>
              <a:t>Provides personalized feedback and scoring. </a:t>
            </a:r>
          </a:p>
          <a:p>
            <a:pPr>
              <a:lnSpc>
                <a:spcPct val="150000"/>
              </a:lnSpc>
            </a:pPr>
            <a:r>
              <a:rPr lang="en-IN" b="1" dirty="0" err="1"/>
              <a:t>Streamlit</a:t>
            </a:r>
            <a:endParaRPr lang="en-IN" b="1" dirty="0"/>
          </a:p>
          <a:p>
            <a:pPr marL="285750" indent="-285750">
              <a:buFont typeface="Arial" panose="020B0604020202020204" pitchFamily="34" charset="0"/>
              <a:buChar char="•"/>
            </a:pPr>
            <a:r>
              <a:rPr lang="en-IN" dirty="0"/>
              <a:t>Builds an interactive and user-friendly web interface. </a:t>
            </a:r>
          </a:p>
          <a:p>
            <a:pPr marL="285750" indent="-285750">
              <a:buFont typeface="Arial" panose="020B0604020202020204" pitchFamily="34" charset="0"/>
              <a:buChar char="•"/>
            </a:pPr>
            <a:r>
              <a:rPr lang="en-IN" dirty="0"/>
              <a:t>Allows users to upload resumes and answer interview questions. </a:t>
            </a:r>
          </a:p>
          <a:p>
            <a:pPr marL="285750" indent="-285750">
              <a:buFont typeface="Arial" panose="020B0604020202020204" pitchFamily="34" charset="0"/>
              <a:buChar char="•"/>
            </a:pPr>
            <a:r>
              <a:rPr lang="en-IN" dirty="0"/>
              <a:t>Displays evaluation results and feedback in real time. </a:t>
            </a:r>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86345" y="1237673"/>
            <a:ext cx="10607040" cy="5478423"/>
          </a:xfrm>
          <a:prstGeom prst="rect">
            <a:avLst/>
          </a:prstGeom>
          <a:noFill/>
        </p:spPr>
        <p:txBody>
          <a:bodyPr wrap="square" rtlCol="0">
            <a:spAutoFit/>
          </a:bodyPr>
          <a:lstStyle/>
          <a:p>
            <a:r>
              <a:rPr lang="en-US" dirty="0"/>
              <a:t>The proposed solution is a multi-agent AI-powered Interview Trainer Agent built using </a:t>
            </a:r>
            <a:r>
              <a:rPr lang="en-US" dirty="0" err="1"/>
              <a:t>LangFlow</a:t>
            </a:r>
            <a:r>
              <a:rPr lang="en-US" dirty="0"/>
              <a:t>, IBM watsonx.ai, IBM Granite Models, and </a:t>
            </a:r>
            <a:r>
              <a:rPr lang="en-US" dirty="0" err="1"/>
              <a:t>Streamlit</a:t>
            </a:r>
            <a:r>
              <a:rPr lang="en-US" dirty="0"/>
              <a:t> to help students and job seekers improve their interview performance through personalized mock interview sessions. The system addresses common challenges in interview preparation, such as lack of practice, limited feedback, and role-specific question generation, through an intelligent and modular architecture.</a:t>
            </a:r>
          </a:p>
          <a:p>
            <a:r>
              <a:rPr lang="en-US" dirty="0"/>
              <a:t>At its core, the solution analyzes the user's uploaded resume to extract key skills, technologies, projects, and areas of expertise. Based on this information and the selected job role (such as Java Developer, Python Developer, or Web Developer), IBM Granite models generate personalized interview questions that closely match real-world interview scenarios. The system then evaluates user responses and provides detailed feedback, scores, and improvement suggestions.</a:t>
            </a:r>
          </a:p>
          <a:p>
            <a:r>
              <a:rPr lang="en-US" dirty="0"/>
              <a:t>The system consists of four key agents:</a:t>
            </a:r>
          </a:p>
          <a:p>
            <a:r>
              <a:rPr lang="en-US" b="1" dirty="0"/>
              <a:t>Resume Analysis Agent</a:t>
            </a:r>
            <a:r>
              <a:rPr lang="en-US" dirty="0"/>
              <a:t> extracts and summarizes important skills, projects, certifications, and technical competencies from the uploaded resume.</a:t>
            </a:r>
          </a:p>
          <a:p>
            <a:r>
              <a:rPr lang="en-US" b="1" dirty="0"/>
              <a:t>Question Generation Agent</a:t>
            </a:r>
            <a:r>
              <a:rPr lang="en-US" dirty="0"/>
              <a:t> generates personalized technical and HR interview questions based on the resume content and selected job role.</a:t>
            </a:r>
          </a:p>
          <a:p>
            <a:r>
              <a:rPr lang="en-US" b="1" dirty="0"/>
              <a:t>Answer Evaluation Agent</a:t>
            </a:r>
            <a:r>
              <a:rPr lang="en-US" dirty="0"/>
              <a:t> analyzes candidate responses for relevance, technical correctness, clarity, communication quality, and completeness, then assigns scores and feedback.</a:t>
            </a:r>
          </a:p>
          <a:p>
            <a:r>
              <a:rPr lang="en-US" b="1" dirty="0"/>
              <a:t>Performance Feedback Agent</a:t>
            </a:r>
            <a:r>
              <a:rPr lang="en-US" dirty="0"/>
              <a:t> identifies strengths and weaknesses, provides improvement suggestions, and recommends focus areas for future interview preparation.</a:t>
            </a:r>
          </a:p>
          <a:p>
            <a:r>
              <a:rPr lang="en-US" dirty="0"/>
              <a:t>The solution includes a user-friendly interface built using </a:t>
            </a:r>
            <a:r>
              <a:rPr lang="en-US" dirty="0" err="1"/>
              <a:t>Streamlit</a:t>
            </a:r>
            <a:r>
              <a:rPr lang="en-US" dirty="0"/>
              <a:t>, where users can upload resumes, select their target role, answer interview questions, and view evaluation results instantly.</a:t>
            </a:r>
          </a:p>
          <a:p>
            <a:r>
              <a:rPr lang="en-US" dirty="0" err="1"/>
              <a:t>LangFlow</a:t>
            </a:r>
            <a:r>
              <a:rPr lang="en-US" dirty="0"/>
              <a:t> is used to orchestrate the agent workflow and manage interactions between different components, while IBM watsonx.ai provides model access, deployment capabilities, and AI governance. IBM Granite models power question generation, answer evaluation, reasoning, and personalized feedback.</a:t>
            </a:r>
          </a:p>
          <a:p>
            <a:r>
              <a:rPr lang="en-US" dirty="0"/>
              <a:t>Overall, this solution delivers an end-to-end intelligent interview preparation platform that helps users build confidence, improve communication skills, identify knowledge gaps, and enhance their chances of success in technical and HR interviews.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86345" y="704088"/>
            <a:ext cx="10859065" cy="830997"/>
          </a:xfrm>
          <a:prstGeom prst="rect">
            <a:avLst/>
          </a:prstGeom>
          <a:noFill/>
        </p:spPr>
        <p:txBody>
          <a:bodyPr wrap="square" rtlCol="0">
            <a:spAutoFit/>
          </a:bodyPr>
          <a:lstStyle/>
          <a:p>
            <a:r>
              <a:rPr lang="en-US" sz="2400" b="1" dirty="0"/>
              <a:t>Proposed Solution -  AI-Powered Interview Trainer Agent</a:t>
            </a:r>
          </a:p>
          <a:p>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229744"/>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678252"/>
            <a:ext cx="8823960" cy="7848302"/>
          </a:xfrm>
          <a:prstGeom prst="rect">
            <a:avLst/>
          </a:prstGeom>
          <a:noFill/>
        </p:spPr>
        <p:txBody>
          <a:bodyPr wrap="square" rtlCol="0">
            <a:spAutoFit/>
          </a:bodyPr>
          <a:lstStyle/>
          <a:p>
            <a:endParaRPr lang="en-US" dirty="0"/>
          </a:p>
          <a:p>
            <a:r>
              <a:rPr lang="en-US" b="1" dirty="0"/>
              <a:t>1) Chat Input</a:t>
            </a:r>
          </a:p>
          <a:p>
            <a:r>
              <a:rPr lang="en-US" dirty="0"/>
              <a:t>Acts as the user interaction interface where candidates upload their resume, select their target job role, and provide answers to interview questions.</a:t>
            </a:r>
          </a:p>
          <a:p>
            <a:pPr>
              <a:lnSpc>
                <a:spcPct val="150000"/>
              </a:lnSpc>
            </a:pPr>
            <a:r>
              <a:rPr lang="en-US" b="1" dirty="0"/>
              <a:t>2) IBM </a:t>
            </a:r>
            <a:r>
              <a:rPr lang="en-US" b="1" dirty="0" err="1"/>
              <a:t>watsonx</a:t>
            </a:r>
            <a:r>
              <a:rPr lang="en-US" b="1" dirty="0"/>
              <a:t> AI Agent</a:t>
            </a:r>
          </a:p>
          <a:p>
            <a:r>
              <a:rPr lang="en-US" dirty="0"/>
              <a:t>Processes user inputs and coordinates the interview workflow using IBM Granite Models. It handles resume analysis, question generation, answer evaluation, and feedback generation.</a:t>
            </a:r>
          </a:p>
          <a:p>
            <a:pPr>
              <a:lnSpc>
                <a:spcPct val="150000"/>
              </a:lnSpc>
            </a:pPr>
            <a:r>
              <a:rPr lang="en-US" b="1" dirty="0"/>
              <a:t>3) IBM Granite Model</a:t>
            </a:r>
          </a:p>
          <a:p>
            <a:r>
              <a:rPr lang="en-US" b="1" dirty="0"/>
              <a:t>Granite-4.0-8B-Instruct</a:t>
            </a:r>
            <a:endParaRPr lang="en-US" dirty="0"/>
          </a:p>
          <a:p>
            <a:r>
              <a:rPr lang="en-US" dirty="0"/>
              <a:t>Used for:</a:t>
            </a:r>
          </a:p>
          <a:p>
            <a:r>
              <a:rPr lang="en-US" dirty="0"/>
              <a:t>Resume understanding </a:t>
            </a:r>
          </a:p>
          <a:p>
            <a:r>
              <a:rPr lang="en-US" dirty="0"/>
              <a:t>Interview question generation </a:t>
            </a:r>
          </a:p>
          <a:p>
            <a:r>
              <a:rPr lang="en-US" dirty="0"/>
              <a:t>Answer evaluation </a:t>
            </a:r>
          </a:p>
          <a:p>
            <a:r>
              <a:rPr lang="en-US" dirty="0"/>
              <a:t>Personalized feedback and scoring </a:t>
            </a:r>
          </a:p>
          <a:p>
            <a:pPr>
              <a:lnSpc>
                <a:spcPct val="150000"/>
              </a:lnSpc>
            </a:pPr>
            <a:r>
              <a:rPr lang="en-US" b="1" dirty="0"/>
              <a:t>4) Prompt Component</a:t>
            </a:r>
          </a:p>
          <a:p>
            <a:r>
              <a:rPr lang="en-US" dirty="0"/>
              <a:t>Provides structured prompts to guide the Granite model in generating role-specific interview questions and evaluating candidate responses accurately.</a:t>
            </a:r>
          </a:p>
          <a:p>
            <a:pPr>
              <a:lnSpc>
                <a:spcPct val="150000"/>
              </a:lnSpc>
            </a:pPr>
            <a:r>
              <a:rPr lang="en-US" b="1" dirty="0"/>
              <a:t>5) File Component</a:t>
            </a:r>
          </a:p>
          <a:p>
            <a:r>
              <a:rPr lang="en-US" dirty="0"/>
              <a:t>Accepts and processes uploaded resumes (PDF/Text format) and extracts relevant information such as skills, projects, certifications, and technologies.</a:t>
            </a:r>
          </a:p>
          <a:p>
            <a:pPr>
              <a:lnSpc>
                <a:spcPct val="150000"/>
              </a:lnSpc>
            </a:pPr>
            <a:r>
              <a:rPr lang="en-US" b="1" dirty="0"/>
              <a:t>6) Chat Output</a:t>
            </a:r>
          </a:p>
          <a:p>
            <a:r>
              <a:rPr lang="en-US" dirty="0"/>
              <a:t>Displays generated interview questions, candidate scores, feedback, strengths, weaknesses, and improvement suggestions.</a:t>
            </a:r>
          </a:p>
          <a:p>
            <a:pPr>
              <a:lnSpc>
                <a:spcPct val="150000"/>
              </a:lnSpc>
            </a:pPr>
            <a:r>
              <a:rPr lang="en-US" b="1" dirty="0"/>
              <a:t>7) Parser Component </a:t>
            </a:r>
          </a:p>
          <a:p>
            <a:r>
              <a:rPr lang="en-US" dirty="0"/>
              <a:t>Formats model outputs into structured responses, making evaluation results easy to read and understand.</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8B100B10-FA6D-664B-1662-873008D6880C}"/>
              </a:ext>
            </a:extLst>
          </p:cNvPr>
          <p:cNvPicPr>
            <a:picLocks noChangeAspect="1"/>
          </p:cNvPicPr>
          <p:nvPr/>
        </p:nvPicPr>
        <p:blipFill>
          <a:blip r:embed="rId3"/>
          <a:stretch>
            <a:fillRect/>
          </a:stretch>
        </p:blipFill>
        <p:spPr>
          <a:xfrm>
            <a:off x="188817" y="1114921"/>
            <a:ext cx="11814365" cy="541984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27370693-ED04-1364-5854-945BE9AEF51E}"/>
              </a:ext>
            </a:extLst>
          </p:cNvPr>
          <p:cNvPicPr>
            <a:picLocks noChangeAspect="1"/>
          </p:cNvPicPr>
          <p:nvPr/>
        </p:nvPicPr>
        <p:blipFill>
          <a:blip r:embed="rId3"/>
          <a:stretch>
            <a:fillRect/>
          </a:stretch>
        </p:blipFill>
        <p:spPr>
          <a:xfrm>
            <a:off x="537590" y="771747"/>
            <a:ext cx="10941978" cy="60112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862596"/>
          </a:xfrm>
          <a:prstGeom prst="rect">
            <a:avLst/>
          </a:prstGeom>
          <a:noFill/>
        </p:spPr>
        <p:txBody>
          <a:bodyPr wrap="square" rtlCol="0">
            <a:spAutoFit/>
          </a:bodyPr>
          <a:lstStyle/>
          <a:p>
            <a:pPr>
              <a:lnSpc>
                <a:spcPct val="150000"/>
              </a:lnSpc>
            </a:pPr>
            <a:r>
              <a:rPr lang="en-US" b="1" dirty="0"/>
              <a:t>Role of Agentic AI in Interview Trainer Agent</a:t>
            </a:r>
          </a:p>
          <a:p>
            <a:r>
              <a:rPr lang="en-US" dirty="0"/>
              <a:t>Agentic AI enables the Interview Trainer Agent to function as an intelligent and autonomous interview preparation system rather than a traditional question-answer application. Using IBM watsonx.ai and IBM Granite Models, the system coordinates multiple specialized agents that work together to deliver a personalized mock interview experience.</a:t>
            </a:r>
          </a:p>
          <a:p>
            <a:r>
              <a:rPr lang="en-US" dirty="0"/>
              <a:t>Each agent performs a specific task, such as analyzing resumes, generating interview questions, evaluating candidate responses, and providing detailed feedback. These agents collaborate seamlessly to ensure accurate assessments and meaningful recommendations.</a:t>
            </a:r>
          </a:p>
          <a:p>
            <a:r>
              <a:rPr lang="en-US" dirty="0"/>
              <a:t>Agentic AI provides context awareness by understanding the candidate's resume, skills, projects, and selected job role. Based on this context, it generates relevant technical and HR interview questions and adapts the interview flow according to user performance.</a:t>
            </a:r>
          </a:p>
          <a:p>
            <a:r>
              <a:rPr lang="en-US" dirty="0"/>
              <a:t>The system also supports continuous learning and improvement by identifying strengths, weaknesses, and skill gaps, enabling candidates to focus on areas that require improvement.</a:t>
            </a:r>
          </a:p>
          <a:p>
            <a:r>
              <a:rPr lang="en-US" dirty="0"/>
              <a:t>Overall, Agentic AI transforms the platform into a smart virtual interviewer that offers personalized guidance, real-time evaluation, and actionable feedback, helping users improve their confidence and interview readiness.</a:t>
            </a:r>
          </a:p>
        </p:txBody>
      </p:sp>
      <p:pic>
        <p:nvPicPr>
          <p:cNvPr id="7" name="Picture 6">
            <a:extLst>
              <a:ext uri="{FF2B5EF4-FFF2-40B4-BE49-F238E27FC236}">
                <a16:creationId xmlns:a16="http://schemas.microsoft.com/office/drawing/2014/main" id="{17002ED5-F8C6-6440-CDE0-1F51417FFF89}"/>
              </a:ext>
            </a:extLst>
          </p:cNvPr>
          <p:cNvPicPr>
            <a:picLocks noChangeAspect="1"/>
          </p:cNvPicPr>
          <p:nvPr/>
        </p:nvPicPr>
        <p:blipFill>
          <a:blip r:embed="rId3"/>
          <a:stretch>
            <a:fillRect/>
          </a:stretch>
        </p:blipFill>
        <p:spPr>
          <a:xfrm>
            <a:off x="8201038" y="868239"/>
            <a:ext cx="3515474" cy="52732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042621"/>
            <a:ext cx="10515600" cy="5924699"/>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endParaRPr lang="en-US" sz="1800" b="1" dirty="0"/>
          </a:p>
          <a:p>
            <a:r>
              <a:rPr lang="en-US" sz="1800" dirty="0"/>
              <a:t>    Used to design and orchestrate the multi-agent workflow for resume analysis, question generation,      answer evaluation, and feedback.</a:t>
            </a:r>
          </a:p>
          <a:p>
            <a:pPr marL="285750" indent="-285750">
              <a:lnSpc>
                <a:spcPct val="150000"/>
              </a:lnSpc>
              <a:buFont typeface="Arial" panose="020B0604020202020204" pitchFamily="34" charset="0"/>
              <a:buChar char="•"/>
            </a:pPr>
            <a:r>
              <a:rPr lang="en-US" sz="1800" b="1" dirty="0"/>
              <a:t>IBM Granite Model</a:t>
            </a:r>
          </a:p>
          <a:p>
            <a:r>
              <a:rPr lang="en-US" sz="1800" b="1" dirty="0"/>
              <a:t>    Granite-4.0-8B-Instruct</a:t>
            </a:r>
            <a:r>
              <a:rPr lang="en-US" sz="1800" dirty="0"/>
              <a:t> is used for resume understanding, interview question generation, answer evaluation, and personalized feedback.</a:t>
            </a:r>
          </a:p>
          <a:p>
            <a:pPr marL="285750" indent="-285750">
              <a:lnSpc>
                <a:spcPct val="150000"/>
              </a:lnSpc>
              <a:buFont typeface="Arial" panose="020B0604020202020204" pitchFamily="34" charset="0"/>
              <a:buChar char="•"/>
            </a:pPr>
            <a:r>
              <a:rPr lang="en-US" sz="1800" b="1" dirty="0"/>
              <a:t>IBM watsonx.ai</a:t>
            </a:r>
          </a:p>
          <a:p>
            <a:r>
              <a:rPr lang="en-US" sz="1800" dirty="0"/>
              <a:t>    Provides access to Granite models, prompt management, AI deployment, and governance capabilities.</a:t>
            </a:r>
          </a:p>
          <a:p>
            <a:pPr marL="285750" indent="-285750">
              <a:lnSpc>
                <a:spcPct val="150000"/>
              </a:lnSpc>
              <a:buFont typeface="Arial" panose="020B0604020202020204" pitchFamily="34" charset="0"/>
              <a:buChar char="•"/>
            </a:pPr>
            <a:r>
              <a:rPr lang="en-US" sz="1800" b="1" dirty="0" err="1"/>
              <a:t>Streamlit</a:t>
            </a:r>
            <a:endParaRPr lang="en-US" sz="1800" b="1" dirty="0"/>
          </a:p>
          <a:p>
            <a:r>
              <a:rPr lang="en-US" sz="1800" dirty="0"/>
              <a:t>    Used to build an interactive web interface for resume upload, mock interviews, scoring, and feedback visualization.</a:t>
            </a:r>
          </a:p>
          <a:p>
            <a:pPr marL="285750" indent="-285750">
              <a:lnSpc>
                <a:spcPct val="150000"/>
              </a:lnSpc>
              <a:buFont typeface="Arial" panose="020B0604020202020204" pitchFamily="34" charset="0"/>
              <a:buChar char="•"/>
            </a:pPr>
            <a:r>
              <a:rPr lang="en-US" sz="1800" b="1" dirty="0"/>
              <a:t>PDF Processing</a:t>
            </a:r>
          </a:p>
          <a:p>
            <a:r>
              <a:rPr lang="en-US" sz="1800" dirty="0"/>
              <a:t>     Extracts text and relevant information from uploaded resumes for skill and experience analysis.</a:t>
            </a:r>
          </a:p>
          <a:p>
            <a:pPr marL="285750" indent="-285750">
              <a:lnSpc>
                <a:spcPct val="150000"/>
              </a:lnSpc>
              <a:buFont typeface="Arial" panose="020B0604020202020204" pitchFamily="34" charset="0"/>
              <a:buChar char="•"/>
            </a:pPr>
            <a:r>
              <a:rPr lang="en-US" sz="1800" b="1" dirty="0"/>
              <a:t>Agentic AI</a:t>
            </a:r>
          </a:p>
          <a:p>
            <a:r>
              <a:rPr lang="en-US" sz="1800" dirty="0"/>
              <a:t>    Coordinates multiple AI agents that collaborate to conduct interviews, evaluate answers, and provide improvement suggestions.</a:t>
            </a:r>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US" sz="1800" dirty="0"/>
              <a:t>The proposed </a:t>
            </a:r>
            <a:r>
              <a:rPr lang="en-US" sz="1800" b="1" dirty="0"/>
              <a:t>Interview Trainer Agent</a:t>
            </a:r>
            <a:r>
              <a:rPr lang="en-US" sz="1800" dirty="0"/>
              <a:t> stands out by combining </a:t>
            </a:r>
            <a:r>
              <a:rPr lang="en-US" sz="1800" b="1" dirty="0"/>
              <a:t>Agentic AI, Resume Analysis, and Personalized Interview Evaluation</a:t>
            </a:r>
            <a:r>
              <a:rPr lang="en-US" sz="1800" dirty="0"/>
              <a:t> into a single intelligent platform.</a:t>
            </a:r>
          </a:p>
          <a:p>
            <a:endParaRPr lang="en-US" sz="1800" dirty="0"/>
          </a:p>
          <a:p>
            <a:pPr marL="285750" indent="-285750">
              <a:buFont typeface="Arial" panose="020B0604020202020204" pitchFamily="34" charset="0"/>
              <a:buChar char="•"/>
            </a:pPr>
            <a:r>
              <a:rPr lang="en-US" sz="1800" b="1" dirty="0"/>
              <a:t>Multi-Agent Intelligence</a:t>
            </a:r>
          </a:p>
          <a:p>
            <a:r>
              <a:rPr lang="en-US" sz="1800" dirty="0"/>
              <a:t>    Multiple AI agents work together to analyze resumes, generate questions, evaluate answers, and provide feedback.</a:t>
            </a:r>
          </a:p>
          <a:p>
            <a:pPr marL="285750" indent="-285750">
              <a:lnSpc>
                <a:spcPct val="150000"/>
              </a:lnSpc>
              <a:buFont typeface="Arial" panose="020B0604020202020204" pitchFamily="34" charset="0"/>
              <a:buChar char="•"/>
            </a:pPr>
            <a:r>
              <a:rPr lang="en-US" sz="1800" b="1" dirty="0"/>
              <a:t>Resume-Based Personalization</a:t>
            </a:r>
          </a:p>
          <a:p>
            <a:r>
              <a:rPr lang="en-US" sz="1800" b="1" dirty="0"/>
              <a:t>    </a:t>
            </a:r>
            <a:r>
              <a:rPr lang="en-US" sz="1800" dirty="0"/>
              <a:t>Interview questions are tailored according to the candidate's skills, projects, and selected job role.</a:t>
            </a:r>
          </a:p>
          <a:p>
            <a:pPr marL="285750" indent="-285750">
              <a:lnSpc>
                <a:spcPct val="150000"/>
              </a:lnSpc>
              <a:buFont typeface="Arial" panose="020B0604020202020204" pitchFamily="34" charset="0"/>
              <a:buChar char="•"/>
            </a:pPr>
            <a:r>
              <a:rPr lang="en-US" sz="1800" b="1" dirty="0"/>
              <a:t>Real-Time Evaluation</a:t>
            </a:r>
          </a:p>
          <a:p>
            <a:r>
              <a:rPr lang="en-US" sz="1800" dirty="0"/>
              <a:t>     Provides instant scores, strengths, weaknesses, and improvement suggestions after each response.</a:t>
            </a:r>
          </a:p>
          <a:p>
            <a:pPr marL="285750" indent="-285750">
              <a:lnSpc>
                <a:spcPct val="150000"/>
              </a:lnSpc>
              <a:buFont typeface="Arial" panose="020B0604020202020204" pitchFamily="34" charset="0"/>
              <a:buChar char="•"/>
            </a:pPr>
            <a:r>
              <a:rPr lang="en-US" sz="1800" b="1" dirty="0"/>
              <a:t>Adaptive Interview Experience</a:t>
            </a:r>
          </a:p>
          <a:p>
            <a:r>
              <a:rPr lang="en-US" sz="1800" dirty="0"/>
              <a:t>    Adjusts questions and feedback based on user performance.</a:t>
            </a:r>
          </a:p>
          <a:p>
            <a:pPr marL="285750" indent="-285750">
              <a:lnSpc>
                <a:spcPct val="150000"/>
              </a:lnSpc>
              <a:buFont typeface="Arial" panose="020B0604020202020204" pitchFamily="34" charset="0"/>
              <a:buChar char="•"/>
            </a:pPr>
            <a:r>
              <a:rPr lang="en-US" sz="1800" b="1" dirty="0"/>
              <a:t>Scalable &amp; Reliable</a:t>
            </a:r>
          </a:p>
          <a:p>
            <a:r>
              <a:rPr lang="en-US" sz="1800" dirty="0"/>
              <a:t>     Built using </a:t>
            </a:r>
            <a:r>
              <a:rPr lang="en-US" sz="1800" b="1" dirty="0"/>
              <a:t>IBM watsonx.ai, IBM Granite Models, </a:t>
            </a:r>
            <a:r>
              <a:rPr lang="en-US" sz="1800" b="1" dirty="0" err="1"/>
              <a:t>LangFlow</a:t>
            </a:r>
            <a:r>
              <a:rPr lang="en-US" sz="1800" b="1" dirty="0"/>
              <a:t>, and </a:t>
            </a:r>
            <a:r>
              <a:rPr lang="en-US" sz="1800" b="1" dirty="0" err="1"/>
              <a:t>Streamlit</a:t>
            </a:r>
            <a:r>
              <a:rPr lang="en-US" sz="1800" dirty="0"/>
              <a:t> for a secure and scalable solution.</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366208" y="1832138"/>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https://github.com/SaisumanthG/Interview-Trainer-Agent---IBM</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90499"/>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1850" b="1" dirty="0">
                <a:solidFill>
                  <a:srgbClr val="2B3541"/>
                </a:solidFill>
                <a:latin typeface="Times New Roman"/>
                <a:cs typeface="Times New Roman"/>
              </a:rPr>
              <a:t>1. Voice-Based Interview Assistant</a:t>
            </a:r>
          </a:p>
          <a:p>
            <a:pPr>
              <a:lnSpc>
                <a:spcPct val="162162"/>
              </a:lnSpc>
              <a:buClr>
                <a:srgbClr val="2B3541"/>
              </a:buClr>
              <a:buSzPts val="1850"/>
            </a:pPr>
            <a:r>
              <a:rPr lang="en-US" sz="1850" dirty="0">
                <a:solidFill>
                  <a:srgbClr val="2B3541"/>
                </a:solidFill>
                <a:latin typeface="Times New Roman"/>
                <a:cs typeface="Times New Roman"/>
              </a:rPr>
              <a:t>The system can be enhanced with voice interaction to conduct realistic mock interviews.</a:t>
            </a:r>
            <a:br>
              <a:rPr lang="en-US" sz="1850" dirty="0">
                <a:solidFill>
                  <a:srgbClr val="2B3541"/>
                </a:solidFill>
                <a:latin typeface="Times New Roman"/>
                <a:cs typeface="Times New Roman"/>
              </a:rPr>
            </a:br>
            <a:r>
              <a:rPr lang="en-US" sz="1850" dirty="0">
                <a:solidFill>
                  <a:srgbClr val="2B3541"/>
                </a:solidFill>
                <a:latin typeface="Times New Roman"/>
                <a:cs typeface="Times New Roman"/>
              </a:rPr>
              <a:t>Users can answer questions through speech instead of typing.</a:t>
            </a:r>
            <a:br>
              <a:rPr lang="en-US" sz="1850" dirty="0">
                <a:solidFill>
                  <a:srgbClr val="2B3541"/>
                </a:solidFill>
                <a:latin typeface="Times New Roman"/>
                <a:cs typeface="Times New Roman"/>
              </a:rPr>
            </a:br>
            <a:r>
              <a:rPr lang="en-US" sz="1850" dirty="0">
                <a:solidFill>
                  <a:srgbClr val="2B3541"/>
                </a:solidFill>
                <a:latin typeface="Times New Roman"/>
                <a:cs typeface="Times New Roman"/>
              </a:rPr>
              <a:t>This will improve communication, confidence, and speaking skills.</a:t>
            </a:r>
          </a:p>
          <a:p>
            <a:pPr>
              <a:lnSpc>
                <a:spcPct val="162162"/>
              </a:lnSpc>
              <a:buClr>
                <a:srgbClr val="2B3541"/>
              </a:buClr>
              <a:buSzPts val="1850"/>
            </a:pPr>
            <a:endParaRPr lang="en-US" sz="1850" b="1" dirty="0">
              <a:solidFill>
                <a:srgbClr val="2B3541"/>
              </a:solidFill>
              <a:latin typeface="Times New Roman"/>
              <a:cs typeface="Times New Roman"/>
            </a:endParaRPr>
          </a:p>
          <a:p>
            <a:pPr>
              <a:lnSpc>
                <a:spcPct val="162162"/>
              </a:lnSpc>
              <a:buClr>
                <a:srgbClr val="2B3541"/>
              </a:buClr>
              <a:buSzPts val="1850"/>
            </a:pPr>
            <a:r>
              <a:rPr lang="en-US" sz="1850" b="1" dirty="0">
                <a:solidFill>
                  <a:srgbClr val="2B3541"/>
                </a:solidFill>
                <a:latin typeface="Times New Roman"/>
                <a:cs typeface="Times New Roman"/>
              </a:rPr>
              <a:t>2. AI-Powered Career Guidance</a:t>
            </a:r>
          </a:p>
          <a:p>
            <a:pPr>
              <a:lnSpc>
                <a:spcPct val="162162"/>
              </a:lnSpc>
              <a:buClr>
                <a:srgbClr val="2B3541"/>
              </a:buClr>
              <a:buSzPts val="1850"/>
            </a:pPr>
            <a:r>
              <a:rPr lang="en-US" sz="1850" dirty="0">
                <a:solidFill>
                  <a:srgbClr val="2B3541"/>
                </a:solidFill>
                <a:latin typeface="Times New Roman"/>
                <a:cs typeface="Times New Roman"/>
              </a:rPr>
              <a:t>The platform can recommend suitable career paths based on interview performance.</a:t>
            </a:r>
            <a:br>
              <a:rPr lang="en-US" sz="1850" dirty="0">
                <a:solidFill>
                  <a:srgbClr val="2B3541"/>
                </a:solidFill>
                <a:latin typeface="Times New Roman"/>
                <a:cs typeface="Times New Roman"/>
              </a:rPr>
            </a:br>
            <a:r>
              <a:rPr lang="en-US" sz="1850" dirty="0">
                <a:solidFill>
                  <a:srgbClr val="2B3541"/>
                </a:solidFill>
                <a:latin typeface="Times New Roman"/>
                <a:cs typeface="Times New Roman"/>
              </a:rPr>
              <a:t>It can also suggest certifications, courses, and learning resources.</a:t>
            </a:r>
            <a:br>
              <a:rPr lang="en-US" sz="1850" dirty="0">
                <a:solidFill>
                  <a:srgbClr val="2B3541"/>
                </a:solidFill>
                <a:latin typeface="Times New Roman"/>
                <a:cs typeface="Times New Roman"/>
              </a:rPr>
            </a:br>
            <a:r>
              <a:rPr lang="en-US" sz="1850" dirty="0">
                <a:solidFill>
                  <a:srgbClr val="2B3541"/>
                </a:solidFill>
                <a:latin typeface="Times New Roman"/>
                <a:cs typeface="Times New Roman"/>
              </a:rPr>
              <a:t>This helps users continuously improve their skills and job readiness.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1240</TotalTime>
  <Words>1504</Words>
  <Application>Microsoft Office PowerPoint</Application>
  <PresentationFormat>Widescreen</PresentationFormat>
  <Paragraphs>142</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Sai Sumanth</cp:lastModifiedBy>
  <cp:revision>25</cp:revision>
  <dcterms:created xsi:type="dcterms:W3CDTF">2025-07-08T05:06:56Z</dcterms:created>
  <dcterms:modified xsi:type="dcterms:W3CDTF">2026-06-05T17:10:40Z</dcterms:modified>
</cp:coreProperties>
</file>